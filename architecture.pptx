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PDF Invoice JSON Comparison —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" y="53035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50" kern="0" dirty="0">
                <a:solidFill>
                  <a:srgbClr val="27AE60"/>
                </a:solidFill>
              </a:rPr>
              <a:t>INPUTS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148840" y="53035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50" kern="0" dirty="0">
                <a:solidFill>
                  <a:srgbClr val="00B4D8"/>
                </a:solidFill>
              </a:rPr>
              <a:t>APP.PY — PROCESSING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32120" y="5303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50" kern="0" dirty="0">
                <a:solidFill>
                  <a:srgbClr val="0078D4"/>
                </a:solidFill>
              </a:rPr>
              <a:t>AZURE CLOUD SERVICES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7160" y="822960"/>
            <a:ext cx="1874520" cy="960120"/>
          </a:xfrm>
          <a:prstGeom prst="rect">
            <a:avLst/>
          </a:prstGeom>
          <a:solidFill>
            <a:srgbClr val="0A201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822960"/>
            <a:ext cx="64008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" y="8229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👤  User Input (JSON)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9DBDD8"/>
                </a:solidFill>
              </a:rPr>
              <a:t>Provided via console at runtime</a:t>
            </a:r>
            <a:endParaRPr lang="en-US" sz="950" dirty="0"/>
          </a:p>
          <a:p>
            <a:pPr indent="0" marL="0">
              <a:buNone/>
            </a:pPr>
            <a:r>
              <a:rPr lang="en-US" sz="700" dirty="0">
                <a:solidFill>
                  <a:srgbClr val="4E6E8A"/>
                </a:solidFill>
              </a:rPr>
              <a:t>seller_name  ·  buyer_name  ·  date</a:t>
            </a:r>
            <a:endParaRPr lang="en-US" sz="950" dirty="0"/>
          </a:p>
          <a:p>
            <a:pPr indent="0" marL="0">
              <a:buNone/>
            </a:pPr>
            <a:r>
              <a:rPr lang="en-US" sz="700" dirty="0">
                <a:solidFill>
                  <a:srgbClr val="4E6E8A"/>
                </a:solidFill>
              </a:rPr>
              <a:t>product_sku  ·  amount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7160" y="1965960"/>
            <a:ext cx="1874520" cy="960120"/>
          </a:xfrm>
          <a:prstGeom prst="rect">
            <a:avLst/>
          </a:prstGeom>
          <a:solidFill>
            <a:srgbClr val="0A201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" y="1965960"/>
            <a:ext cx="64008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" y="19659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📄  PDF Invoice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9DBDD8"/>
                </a:solidFill>
              </a:rPr>
              <a:t>faktura_example.pdf</a:t>
            </a:r>
            <a:endParaRPr lang="en-US" sz="950" dirty="0"/>
          </a:p>
          <a:p>
            <a:pPr indent="0" marL="0">
              <a:buNone/>
            </a:pPr>
            <a:r>
              <a:rPr lang="en-US" sz="700" dirty="0">
                <a:solidFill>
                  <a:srgbClr val="4E6E8A"/>
                </a:solidFill>
              </a:rPr>
              <a:t>Polish invoice document</a:t>
            </a:r>
            <a:endParaRPr lang="en-US" sz="950" dirty="0"/>
          </a:p>
          <a:p>
            <a:pPr indent="0" marL="0">
              <a:buNone/>
            </a:pPr>
            <a:r>
              <a:rPr lang="en-US" sz="700" dirty="0">
                <a:solidFill>
                  <a:srgbClr val="4E6E8A"/>
                </a:solidFill>
              </a:rPr>
              <a:t>sent as base64 to Azure DI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48840" y="822960"/>
            <a:ext cx="3246120" cy="676656"/>
          </a:xfrm>
          <a:prstGeom prst="rect">
            <a:avLst/>
          </a:prstGeom>
          <a:solidFill>
            <a:srgbClr val="071825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40280" y="996696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996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520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822960"/>
            <a:ext cx="26700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extract_text_from_pdf()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9DBDD8"/>
                </a:solidFill>
              </a:rPr>
              <a:t>Encodes PDF as base64 and calls Document Intelligence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9DBDD8"/>
                </a:solidFill>
              </a:rPr>
              <a:t>(prebuilt-invoice). Returns raw text + invoice fields.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48840" y="1591056"/>
            <a:ext cx="3246120" cy="676656"/>
          </a:xfrm>
          <a:prstGeom prst="rect">
            <a:avLst/>
          </a:prstGeom>
          <a:solidFill>
            <a:srgbClr val="071825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40280" y="176479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520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1591056"/>
            <a:ext cx="26700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extract_json_with_llm()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9DBDD8"/>
                </a:solidFill>
              </a:rPr>
              <a:t>Sends extracted data + schema to Azure OpenAI (GPT-4o).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9DBDD8"/>
                </a:solidFill>
              </a:rPr>
              <a:t>Returns structured JSON mapped to the target fields.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48840" y="2359152"/>
            <a:ext cx="3246120" cy="676656"/>
          </a:xfrm>
          <a:prstGeom prst="rect">
            <a:avLst/>
          </a:prstGeom>
          <a:solidFill>
            <a:srgbClr val="071825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40280" y="253288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520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2359152"/>
            <a:ext cx="26700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anonymize_data()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9DBDD8"/>
                </a:solidFill>
              </a:rPr>
              <a:t>Masks seller_name and buyer_name in both datasets: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9DBDD8"/>
                </a:solidFill>
              </a:rPr>
              <a:t>keeps first 2 + last 2 chars, replaces middle with *.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48840" y="3127248"/>
            <a:ext cx="3246120" cy="676656"/>
          </a:xfrm>
          <a:prstGeom prst="rect">
            <a:avLst/>
          </a:prstGeom>
          <a:solidFill>
            <a:srgbClr val="071825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40280" y="3300984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028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520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3127248"/>
            <a:ext cx="26700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compare_json()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9DBDD8"/>
                </a:solidFill>
              </a:rPr>
              <a:t>Compares anonymized input (A) vs extracted data (B)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9DBDD8"/>
                </a:solidFill>
              </a:rPr>
              <a:t>field-by-field. Produces match status + all_match flag.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148840" y="3968496"/>
            <a:ext cx="3246120" cy="576072"/>
          </a:xfrm>
          <a:prstGeom prst="rect">
            <a:avLst/>
          </a:prstGeom>
          <a:solidFill>
            <a:srgbClr val="251500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148840" y="3968496"/>
            <a:ext cx="64008" cy="5760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58568" y="3968496"/>
            <a:ext cx="313639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📊  comparison_result.json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DBDD8"/>
                </a:solidFill>
              </a:rPr>
              <a:t>Anonymized input · anonymized extracted data · field-by-field comparison · all_match flag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32120" y="822960"/>
            <a:ext cx="3474720" cy="1051560"/>
          </a:xfrm>
          <a:prstGeom prst="rect">
            <a:avLst/>
          </a:prstGeom>
          <a:solidFill>
            <a:srgbClr val="001740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32120" y="822960"/>
            <a:ext cx="64008" cy="10515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0136" y="822960"/>
            <a:ext cx="32826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Azure Document Intelligence</a:t>
            </a:r>
            <a:endParaRPr lang="en-US" sz="950" dirty="0"/>
          </a:p>
          <a:p>
            <a:pPr indent="0" marL="0">
              <a:buNone/>
            </a:pPr>
            <a:r>
              <a:rPr lang="en-US" sz="800" i="1" dirty="0">
                <a:solidFill>
                  <a:srgbClr val="9DBDD8"/>
                </a:solidFill>
              </a:rPr>
              <a:t>Model: prebuilt-invoice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9DBDD8"/>
                </a:solidFill>
              </a:rPr>
              <a:t>Analyzes PDF layout and extracts structured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9DBDD8"/>
                </a:solidFill>
              </a:rPr>
              <a:t>invoice fields: vendor, buyer, dates, line items.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32120" y="1984248"/>
            <a:ext cx="3474720" cy="1051560"/>
          </a:xfrm>
          <a:prstGeom prst="rect">
            <a:avLst/>
          </a:prstGeom>
          <a:solidFill>
            <a:srgbClr val="001740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32120" y="1984248"/>
            <a:ext cx="64008" cy="10515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0136" y="1984248"/>
            <a:ext cx="32826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Azure OpenAI</a:t>
            </a:r>
            <a:endParaRPr lang="en-US" sz="950" dirty="0"/>
          </a:p>
          <a:p>
            <a:pPr indent="0" marL="0">
              <a:buNone/>
            </a:pPr>
            <a:r>
              <a:rPr lang="en-US" sz="800" i="1" dirty="0">
                <a:solidFill>
                  <a:srgbClr val="9DBDD8"/>
                </a:solidFill>
              </a:rPr>
              <a:t>GPT-4o  ·  JSON mode  ·  Temperature 0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9DBDD8"/>
                </a:solidFill>
              </a:rPr>
              <a:t>Maps extracted invoice fields to the user-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9DBDD8"/>
                </a:solidFill>
              </a:rPr>
              <a:t>defined JSON schema. Returns valid JSON only.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32120" y="3145536"/>
            <a:ext cx="3474720" cy="822960"/>
          </a:xfrm>
          <a:prstGeom prst="rect">
            <a:avLst/>
          </a:prstGeom>
          <a:solidFill>
            <a:srgbClr val="15082A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32120" y="3145536"/>
            <a:ext cx="64008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0136" y="3145536"/>
            <a:ext cx="3282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🔐  Azure Identity</a:t>
            </a:r>
            <a:endParaRPr lang="en-US" sz="950" dirty="0"/>
          </a:p>
          <a:p>
            <a:pPr indent="0" marL="0">
              <a:buNone/>
            </a:pPr>
            <a:r>
              <a:rPr lang="en-US" sz="800" i="1" dirty="0">
                <a:solidFill>
                  <a:srgbClr val="9DBDD8"/>
                </a:solidFill>
              </a:rPr>
              <a:t>DefaultAzureCredential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9DBDD8"/>
                </a:solidFill>
              </a:rPr>
              <a:t>Keyless authentication — no secrets in code.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9DBDD8"/>
                </a:solidFill>
              </a:rPr>
              <a:t>Provides OAuth2 access tokens to Document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9DBDD8"/>
                </a:solidFill>
              </a:rPr>
              <a:t>Intelligence and Azure OpenAI via az login.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011680" y="1303020"/>
            <a:ext cx="137160" cy="0"/>
          </a:xfrm>
          <a:prstGeom prst="line">
            <a:avLst/>
          </a:prstGeom>
          <a:noFill/>
          <a:ln w="19050">
            <a:solidFill>
              <a:srgbClr val="3A8FD9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2011680" y="2446020"/>
            <a:ext cx="68580" cy="0"/>
          </a:xfrm>
          <a:prstGeom prst="line">
            <a:avLst/>
          </a:prstGeom>
          <a:noFill/>
          <a:ln w="19050">
            <a:solidFill>
              <a:srgbClr val="3A8F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80260" y="1303020"/>
            <a:ext cx="0" cy="1143000"/>
          </a:xfrm>
          <a:prstGeom prst="line">
            <a:avLst/>
          </a:prstGeom>
          <a:noFill/>
          <a:ln w="19050">
            <a:solidFill>
              <a:srgbClr val="3A8F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80260" y="1303020"/>
            <a:ext cx="68580" cy="0"/>
          </a:xfrm>
          <a:prstGeom prst="line">
            <a:avLst/>
          </a:prstGeom>
          <a:noFill/>
          <a:ln w="19050">
            <a:solidFill>
              <a:srgbClr val="3A8FD9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3771900" y="1499616"/>
            <a:ext cx="0" cy="914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3771900" y="2267712"/>
            <a:ext cx="0" cy="914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3771900" y="3035808"/>
            <a:ext cx="0" cy="914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3771900" y="3803904"/>
            <a:ext cx="0" cy="164592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5394960" y="1161288"/>
            <a:ext cx="137160" cy="0"/>
          </a:xfrm>
          <a:prstGeom prst="line">
            <a:avLst/>
          </a:prstGeom>
          <a:noFill/>
          <a:ln w="19050">
            <a:solidFill>
              <a:srgbClr val="2F8FE8"/>
            </a:solidFill>
            <a:prstDash val="solid"/>
            <a:headEnd type="arrow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5394960" y="1929384"/>
            <a:ext cx="68580" cy="0"/>
          </a:xfrm>
          <a:prstGeom prst="line">
            <a:avLst/>
          </a:prstGeom>
          <a:noFill/>
          <a:ln w="19050">
            <a:solidFill>
              <a:srgbClr val="2F8F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63540" y="1929384"/>
            <a:ext cx="0" cy="580644"/>
          </a:xfrm>
          <a:prstGeom prst="line">
            <a:avLst/>
          </a:prstGeom>
          <a:noFill/>
          <a:ln w="19050">
            <a:solidFill>
              <a:srgbClr val="2F8F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63540" y="2510028"/>
            <a:ext cx="68580" cy="0"/>
          </a:xfrm>
          <a:prstGeom prst="line">
            <a:avLst/>
          </a:prstGeom>
          <a:noFill/>
          <a:ln w="19050">
            <a:solidFill>
              <a:srgbClr val="2F8FE8"/>
            </a:solidFill>
            <a:prstDash val="solid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5394960" y="2121408"/>
            <a:ext cx="137160" cy="0"/>
          </a:xfrm>
          <a:prstGeom prst="line">
            <a:avLst/>
          </a:prstGeom>
          <a:noFill/>
          <a:ln w="19050">
            <a:solidFill>
              <a:srgbClr val="2F8FE8"/>
            </a:solidFill>
            <a:prstDash val="solid"/>
            <a:headEnd type="arrow"/>
          </a:ln>
        </p:spPr>
      </p:sp>
      <p:sp>
        <p:nvSpPr>
          <p:cNvPr id="54" name="Shape 52"/>
          <p:cNvSpPr/>
          <p:nvPr/>
        </p:nvSpPr>
        <p:spPr>
          <a:xfrm>
            <a:off x="6812280" y="3035808"/>
            <a:ext cx="0" cy="109728"/>
          </a:xfrm>
          <a:prstGeom prst="line">
            <a:avLst/>
          </a:prstGeom>
          <a:noFill/>
          <a:ln w="19050">
            <a:solidFill>
              <a:srgbClr val="8B5CF6"/>
            </a:solidFill>
            <a:prstDash val="sysDash"/>
            <a:headEnd type="arrow"/>
          </a:ln>
        </p:spPr>
      </p:sp>
      <p:sp>
        <p:nvSpPr>
          <p:cNvPr id="55" name="Shape 53"/>
          <p:cNvSpPr/>
          <p:nvPr/>
        </p:nvSpPr>
        <p:spPr>
          <a:xfrm>
            <a:off x="7909560" y="1874520"/>
            <a:ext cx="0" cy="1271016"/>
          </a:xfrm>
          <a:prstGeom prst="line">
            <a:avLst/>
          </a:prstGeom>
          <a:noFill/>
          <a:ln w="12700">
            <a:solidFill>
              <a:srgbClr val="8B5CF6"/>
            </a:solidFill>
            <a:prstDash val="sysDash"/>
            <a:headEnd type="arrow"/>
          </a:ln>
        </p:spPr>
      </p:sp>
      <p:sp>
        <p:nvSpPr>
          <p:cNvPr id="56" name="Text 54"/>
          <p:cNvSpPr/>
          <p:nvPr/>
        </p:nvSpPr>
        <p:spPr>
          <a:xfrm>
            <a:off x="6355080" y="2990088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B5CF6"/>
                </a:solidFill>
              </a:rPr>
              <a:t>auth tokens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349240" y="98755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F8FE8"/>
                </a:solidFill>
              </a:rPr>
              <a:t>PDF text + fields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349240" y="176479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F8FE8"/>
                </a:solidFill>
              </a:rPr>
              <a:t>schema + data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Invoice JSON Comparison - Architecture</dc:title>
  <dc:subject>PptxGenJS Presentation</dc:subject>
  <dc:creator>PptxGenJS</dc:creator>
  <cp:lastModifiedBy>PptxGenJS</cp:lastModifiedBy>
  <cp:revision>1</cp:revision>
  <dcterms:created xsi:type="dcterms:W3CDTF">2026-03-30T11:17:22Z</dcterms:created>
  <dcterms:modified xsi:type="dcterms:W3CDTF">2026-03-30T11:17:22Z</dcterms:modified>
</cp:coreProperties>
</file>